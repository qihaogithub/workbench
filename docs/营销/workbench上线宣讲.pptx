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a5faacbdcc4da2" /><Relationship Type="http://schemas.openxmlformats.org/officeDocument/2006/relationships/extended-properties" Target="/docProps/app.xml" Id="R23c15b49b9e04ef5" /><Relationship Type="http://schemas.openxmlformats.org/officeDocument/2006/relationships/officeDocument" Target="/ppt/presentation.xml" Id="R5f6bfa31d29d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7878b55b29421e"/>
  </p:sldMasterIdLst>
  <p:notesMasterIdLst>
    <p:notesMasterId xmlns:r="http://schemas.openxmlformats.org/officeDocument/2006/relationships" r:id="Ra4a7b611867c481e"/>
  </p:notesMasterIdLst>
  <p:sldIdLst>
    <p:sldId xmlns:r="http://schemas.openxmlformats.org/officeDocument/2006/relationships" id="256" r:id="R82a6899a02044322"/>
    <p:sldId xmlns:r="http://schemas.openxmlformats.org/officeDocument/2006/relationships" id="257" r:id="Ra30de2344a044759"/>
    <p:sldId xmlns:r="http://schemas.openxmlformats.org/officeDocument/2006/relationships" id="258" r:id="Rf216779eb8ac4a8f"/>
    <p:sldId xmlns:r="http://schemas.openxmlformats.org/officeDocument/2006/relationships" id="259" r:id="Rdc523e7da9b9444d"/>
    <p:sldId xmlns:r="http://schemas.openxmlformats.org/officeDocument/2006/relationships" id="260" r:id="Rdfe6ba7dfec744fd"/>
    <p:sldId xmlns:r="http://schemas.openxmlformats.org/officeDocument/2006/relationships" id="261" r:id="R67300b1ab95048fb"/>
    <p:sldId xmlns:r="http://schemas.openxmlformats.org/officeDocument/2006/relationships" id="262" r:id="R135085cd97844856"/>
    <p:sldId xmlns:r="http://schemas.openxmlformats.org/officeDocument/2006/relationships" id="263" r:id="R5028385b59db4e4a"/>
    <p:sldId xmlns:r="http://schemas.openxmlformats.org/officeDocument/2006/relationships" id="264" r:id="Rae374763140e4cd1"/>
    <p:sldId xmlns:r="http://schemas.openxmlformats.org/officeDocument/2006/relationships" id="265" r:id="R85f0481c0c2241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2f1f9bd0ed407a" /><Relationship Type="http://schemas.openxmlformats.org/officeDocument/2006/relationships/slideMaster" Target="/ppt/slideMasters/slideMaster1.xml" Id="R5a7878b55b29421e" /><Relationship Type="http://schemas.openxmlformats.org/officeDocument/2006/relationships/notesMaster" Target="/ppt/notesMasters/notesMaster1.xml" Id="Ra4a7b611867c481e" /><Relationship Type="http://schemas.openxmlformats.org/officeDocument/2006/relationships/presProps" Target="/ppt/presProps.xml" Id="R97761370f9bc48e3" /><Relationship Type="http://schemas.openxmlformats.org/officeDocument/2006/relationships/tableStyles" Target="/ppt/tableStyles.xml" Id="Rbb02395de9cd446e" /><Relationship Type="http://schemas.openxmlformats.org/officeDocument/2006/relationships/slide" Target="/ppt/slides/slide1.xml" Id="R82a6899a02044322" /><Relationship Type="http://schemas.openxmlformats.org/officeDocument/2006/relationships/slide" Target="/ppt/slides/slide2.xml" Id="Ra30de2344a044759" /><Relationship Type="http://schemas.openxmlformats.org/officeDocument/2006/relationships/slide" Target="/ppt/slides/slide3.xml" Id="Rf216779eb8ac4a8f" /><Relationship Type="http://schemas.openxmlformats.org/officeDocument/2006/relationships/slide" Target="/ppt/slides/slide4.xml" Id="Rdc523e7da9b9444d" /><Relationship Type="http://schemas.openxmlformats.org/officeDocument/2006/relationships/slide" Target="/ppt/slides/slide5.xml" Id="Rdfe6ba7dfec744fd" /><Relationship Type="http://schemas.openxmlformats.org/officeDocument/2006/relationships/slide" Target="/ppt/slides/slide6.xml" Id="R67300b1ab95048fb" /><Relationship Type="http://schemas.openxmlformats.org/officeDocument/2006/relationships/slide" Target="/ppt/slides/slide7.xml" Id="R135085cd97844856" /><Relationship Type="http://schemas.openxmlformats.org/officeDocument/2006/relationships/slide" Target="/ppt/slides/slide8.xml" Id="R5028385b59db4e4a" /><Relationship Type="http://schemas.openxmlformats.org/officeDocument/2006/relationships/slide" Target="/ppt/slides/slide9.xml" Id="Rae374763140e4cd1" /><Relationship Type="http://schemas.openxmlformats.org/officeDocument/2006/relationships/slide" Target="/ppt/slides/slide10.xml" Id="R85f0481c0c2241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2057abbfec47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b2526ce7e84640" /><Relationship Type="http://schemas.openxmlformats.org/officeDocument/2006/relationships/notesMaster" Target="/ppt/notesMasters/notesMaster1.xml" Id="Re706fb1b733946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5636242f4b4f07" /><Relationship Type="http://schemas.openxmlformats.org/officeDocument/2006/relationships/notesMaster" Target="/ppt/notesMasters/notesMaster1.xml" Id="Rd5196e6f8d3f4d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9f14a75fc54e60" /><Relationship Type="http://schemas.openxmlformats.org/officeDocument/2006/relationships/notesMaster" Target="/ppt/notesMasters/notesMaster1.xml" Id="R467fed2993a145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60d6e0756549a0" /><Relationship Type="http://schemas.openxmlformats.org/officeDocument/2006/relationships/notesMaster" Target="/ppt/notesMasters/notesMaster1.xml" Id="R3ebf2b666bc843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20228f234741d3" /><Relationship Type="http://schemas.openxmlformats.org/officeDocument/2006/relationships/notesMaster" Target="/ppt/notesMasters/notesMaster1.xml" Id="R17d664a30aee40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21864078084c18" /><Relationship Type="http://schemas.openxmlformats.org/officeDocument/2006/relationships/notesMaster" Target="/ppt/notesMasters/notesMaster1.xml" Id="R44e87cd2a09340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29e49c54584b77" /><Relationship Type="http://schemas.openxmlformats.org/officeDocument/2006/relationships/notesMaster" Target="/ppt/notesMasters/notesMaster1.xml" Id="R93ab652a3c944a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1d607fbb644653" /><Relationship Type="http://schemas.openxmlformats.org/officeDocument/2006/relationships/notesMaster" Target="/ppt/notesMasters/notesMaster1.xml" Id="R5a875e60c5fb4f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d3206183624a38" /><Relationship Type="http://schemas.openxmlformats.org/officeDocument/2006/relationships/notesMaster" Target="/ppt/notesMasters/notesMaster1.xml" Id="R4c029d94de004c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f6e79d8e854c87" /><Relationship Type="http://schemas.openxmlformats.org/officeDocument/2006/relationships/notesMaster" Target="/ppt/notesMasters/notesMaster1.xml" Id="R9e2a30c72e9e41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dfcf2604342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df08f357924cd8" /><Relationship Type="http://schemas.openxmlformats.org/officeDocument/2006/relationships/slideLayout" Target="/ppt/slideLayouts/slideLayout1.xml" Id="Rc5324e26a4a342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324e26a4a342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23c03120f4e51" /><Relationship Type="http://schemas.openxmlformats.org/officeDocument/2006/relationships/notesSlide" Target="/ppt/notesSlides/notesSlide1.xml" Id="Rf91d9238d02d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3f8665ce84c95" /><Relationship Type="http://schemas.openxmlformats.org/officeDocument/2006/relationships/notesSlide" Target="/ppt/notesSlides/notesSlide2.xml" Id="R1f3d8d2e6ac548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3a968adcb4863" /><Relationship Type="http://schemas.openxmlformats.org/officeDocument/2006/relationships/notesSlide" Target="/ppt/notesSlides/notesSlide3.xml" Id="R91e9897ad19c43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50360eced49ec" /><Relationship Type="http://schemas.openxmlformats.org/officeDocument/2006/relationships/notesSlide" Target="/ppt/notesSlides/notesSlide4.xml" Id="R54c72cb0751543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65bceb4e2483d" /><Relationship Type="http://schemas.openxmlformats.org/officeDocument/2006/relationships/notesSlide" Target="/ppt/notesSlides/notesSlide5.xml" Id="R9a8f09d65cb849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43d677f324733" /><Relationship Type="http://schemas.openxmlformats.org/officeDocument/2006/relationships/notesSlide" Target="/ppt/notesSlides/notesSlide6.xml" Id="Raf68b10f8fb346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450e0e6354e65" /><Relationship Type="http://schemas.openxmlformats.org/officeDocument/2006/relationships/notesSlide" Target="/ppt/notesSlides/notesSlide7.xml" Id="Rf9085dcf89e145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29a3b50f04890" /><Relationship Type="http://schemas.openxmlformats.org/officeDocument/2006/relationships/notesSlide" Target="/ppt/notesSlides/notesSlide8.xml" Id="R30a073e4bdad42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998b131c44e64" /><Relationship Type="http://schemas.openxmlformats.org/officeDocument/2006/relationships/notesSlide" Target="/ppt/notesSlides/notesSlide9.xml" Id="R448efd8d7bda4d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fbe5b0d434c68" /><Relationship Type="http://schemas.openxmlformats.org/officeDocument/2006/relationships/notesSlide" Target="/ppt/notesSlides/notesSlide10.xml" Id="R8068211bdc4944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864CF-D377-4BCD-A2F7-E6307AC1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ONEFLOW / LAUNCH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87D72-E556-4944-AF17-978E3755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739E9-B502-45B9-8695-057F345F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每个活动，都不该从零开始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1AC72-1AB2-4F44-83F0-2C6432D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7D5EA"/>
                </a:solidFill>
              </a:defRPr>
            </a:pPr>
            <a:r>
              <a:rPr sz="1650">
                <a:solidFill>
                  <a:srgbClr val="C7D5EA"/>
                </a:solidFill>
              </a:rPr>
              <a:t>OneFlow 是面向运营活动的 AI 协作平台。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A7A63-C00B-4E8D-AC18-FEA6AA7D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095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5D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481D3-B882-40CB-8A5E-CA607A67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B35"/>
                </a:solidFill>
              </a:defRPr>
            </a:pPr>
            <a:r>
              <a:rPr sz="900" b="1">
                <a:solidFill>
                  <a:srgbClr val="101B35"/>
                </a:solidFill>
              </a:rPr>
              <a:t>目标 → 原型 → 配置 → 预览 → 上线 → 复用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B55A1-41D5-42A3-94BC-5C3420D1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CCE53-0EC8-47C1-9473-218B2990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4762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B35"/>
                </a:solidFill>
              </a:defRPr>
            </a:pPr>
            <a:r>
              <a:rPr sz="1500" b="1">
                <a:solidFill>
                  <a:srgbClr val="101B35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93232-67C3-4FF4-8ABD-BFEC2AB6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33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重复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20F4D-9EAA-4DD2-B5D6-4F7454DE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57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7DF"/>
                </a:solidFill>
              </a:defRPr>
            </a:pPr>
            <a:r>
              <a:rPr sz="1125">
                <a:solidFill>
                  <a:srgbClr val="B9C7DF"/>
                </a:solidFill>
              </a:rPr>
              <a:t>每次重新整理方案与原型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EB30A-2634-4502-8A20-6EA12EA7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3AA5D-2E87-4A57-8F9D-CB416F06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90800"/>
            <a:ext cx="4762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B35"/>
                </a:solidFill>
              </a:defRPr>
            </a:pPr>
            <a:r>
              <a:rPr sz="1500" b="1">
                <a:solidFill>
                  <a:srgbClr val="101B35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199D5-7256-42E6-AD5D-98D4A305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分散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C62F5-E669-4C47-8122-BE2BC9F3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7DF"/>
                </a:solidFill>
              </a:defRPr>
            </a:pPr>
            <a:r>
              <a:rPr sz="1125">
                <a:solidFill>
                  <a:srgbClr val="B9C7DF"/>
                </a:solidFill>
              </a:rPr>
              <a:t>规范和经验散落各处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89575-E202-4FB1-95E6-A0DE712E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0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36940-8127-4CCF-BE66-35F768FC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4762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B35"/>
                </a:solidFill>
              </a:defRPr>
            </a:pPr>
            <a:r>
              <a:rPr sz="1500" b="1">
                <a:solidFill>
                  <a:srgbClr val="101B35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474DF-FA6F-4115-9DC2-E54FF547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等待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1299E-CB5B-4B7D-AEFA-CFA86E51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7DF"/>
                </a:solidFill>
              </a:defRPr>
            </a:pPr>
            <a:r>
              <a:rPr sz="1125">
                <a:solidFill>
                  <a:srgbClr val="B9C7DF"/>
                </a:solidFill>
              </a:rPr>
              <a:t>跨角色不断补上下文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32FA6-D352-4D8E-BC26-1AC2C4B0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8D64A-C3E8-449F-AD60-5531190F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19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把活动从“临时拼接”变成“连续交付”</a:t>
            </a:r>
          </a:p>
        </p:txBody>
      </p:sp>
    </p:spTree>
    <p:extLst>
      <p:ext uri="{BB962C8B-B14F-4D97-AF65-F5344CB8AC3E}">
        <p14:creationId xmlns:p14="http://schemas.microsoft.com/office/powerpoint/2010/main" val="1616268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7E78D-9E51-4623-91A4-D4D04FE7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ALL HANDS / ONEFLOW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E9490-A477-402E-9550-784BDAD3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05AD5-8859-420B-8403-3B3F05C9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不用安装编程工具，也能参与 AI 创作和协作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EF077-B905-4888-9133-C6011A04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OneFlow 不只是新增工具，而是一种新的协作方式。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79C06-0CA8-405A-A1DB-97A74153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7CC7B-BC75-4FFD-99EF-431B6A6F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9075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B35"/>
          </a:solidFill>
          <a:ln xmlns:a="http://schemas.openxmlformats.org/drawingml/2006/main" w="9525">
            <a:solidFill>
              <a:srgbClr val="101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EC1BF-A94C-4F1C-9B22-EE3A9D2C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过去：上下文分散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CCE60-71D9-428C-BCD8-2E659980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B064C-7B09-427C-85D6-DD7A426B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文档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8EB39-8B8F-4FAE-815C-5605AC0C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052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22328-7791-4537-8CC6-B6A5AC9A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71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对话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2C65E-C642-42EC-8D36-FA04729C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F1EBF-A9C0-48F9-BAE5-2EEDD23C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04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1F1C2-7BB6-4522-B387-9AFEE484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1047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F04D3-C901-4AFC-A337-4BE7BF77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863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个人工具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A58E8-71CA-4187-B837-6D419F8F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909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80ED"/>
                </a:solidFill>
              </a:defRPr>
            </a:pPr>
            <a:r>
              <a:rPr sz="31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FA4BB-DE3C-4C5C-9EEE-3AC174DE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14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现在：一个 OneFlow 项目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D05A4-38F6-476F-835B-90604C20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34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B7036-C32F-4532-B54A-E29FB86F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04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705B3-E305-4CF9-A5C2-CAD4624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34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45E1E-5D1E-4523-B9B8-0D112D2C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04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对话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F3A82-0979-4671-875D-EF60D6CC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34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0529E-4D72-4C4A-AEB2-9B8484FB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004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页面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D80C09-3B17-4721-B03C-ECDC134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34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DC9BA-E5FA-49E6-8739-DCF1C7C4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862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EAE422-95DD-47E6-85DC-1E58B972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195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34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55E80-8879-4CD7-B521-DD63AC7F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862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资源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1C39D-D75B-455F-BE52-5EEEA6F2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195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5D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BCE58-96D0-42E7-9971-00CCF44F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862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B35"/>
                </a:solidFill>
              </a:defRPr>
            </a:pPr>
            <a:r>
              <a:rPr sz="900" b="1">
                <a:solidFill>
                  <a:srgbClr val="101B35"/>
                </a:solidFill>
              </a:rPr>
              <a:t>预览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373A44-ADC6-4002-9A4D-79E3DEBF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958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F"/>
                </a:solidFill>
              </a:defRPr>
            </a:pPr>
            <a:r>
              <a:rPr sz="1275">
                <a:solidFill>
                  <a:srgbClr val="B9C7DF"/>
                </a:solidFill>
              </a:rPr>
              <a:t>同一份项目上下文，让不同角色在线协作。</a:t>
            </a:r>
          </a:p>
        </p:txBody>
      </p:sp>
    </p:spTree>
    <p:extLst>
      <p:ext uri="{BB962C8B-B14F-4D97-AF65-F5344CB8AC3E}">
        <p14:creationId xmlns:p14="http://schemas.microsoft.com/office/powerpoint/2010/main" val="6256553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E61A33-62CF-4C04-B542-43CAFE34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ALL HANDS / ONEFLOW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07641-3932-42F8-BA52-5C3636D6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DBC0B-8CE3-4DB4-BBB9-D37BBA6A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从临时拼接，变成连续交付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66D41-371D-4FF4-A9E6-11FA46FA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AI 承接可规则化的执行，人保留判断、标准和例外。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C3877-B4C4-45F5-A2FF-8C9667D0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6B"/>
                </a:solidFill>
              </a:defRPr>
            </a:pPr>
            <a:r>
              <a:rPr sz="1650" b="1">
                <a:solidFill>
                  <a:srgbClr val="FF6B6B"/>
                </a:solidFill>
              </a:rPr>
              <a:t>过去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ABF87-CAC2-4ECB-B9E3-5CABA044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提出目标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D183A-25AB-4D57-BBB0-24E8BEE9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955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B2006-C293-4B45-B009-037160B0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人工整理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66DCC-9A22-4BB4-AE99-419615FB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955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CD4F3-0FBE-4174-ACCE-A69C20AD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43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反复确认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DE287-F979-42D5-9067-F87FDAD4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955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95E6C-6FCB-4274-B2AD-DE9C1A7C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3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开发重解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31A5F-7EC2-45F6-AB58-F4F8B81D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955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97003-8684-471E-9E88-A6733551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上线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FDF82-D8C3-40E2-A06B-F3AF4FB5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6B"/>
                </a:solidFill>
              </a:defRPr>
            </a:pPr>
            <a:r>
              <a:rPr sz="1350" b="1">
                <a:solidFill>
                  <a:srgbClr val="FF6B6B"/>
                </a:solidFill>
              </a:rPr>
              <a:t>沟通 / 等待 / 返工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5D30B-5BB7-472C-9F4B-FA8B5134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D6E15-94C7-4D3A-9AE6-AC2C9A4D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现在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98E09-C646-451E-B50D-ACCC35EE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385E8-388D-41C1-B74A-A4272885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5162"/>
            <a:ext cx="4000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D8BCA-27BA-4366-AB16-78AAA76B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输入目标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16FE27-A9A8-4E60-9922-8850B9A4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148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EDBBB-0E7D-4675-A988-01E86E3A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0E531-6A65-4E03-AA42-C0845E0C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25162"/>
            <a:ext cx="4000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CFA73-EBA3-48AE-BACC-3F877E0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81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AI 整合知识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C2CCC-351A-4644-A950-14CA90EC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148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62F53-B73B-432B-8A55-7350C4D4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CF804D-CFD3-407C-8CBF-AA835E0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5162"/>
            <a:ext cx="4000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71AA9F-877B-47DC-A96E-1B81CD3E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81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可交互原型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5D48F-9E08-4231-AA98-7F0B4045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7148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282D08-194D-4AD6-B25F-E9BEFCC9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FD1A3C-619F-46A5-A10A-90B765BC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25162"/>
            <a:ext cx="4000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A63C68-A6B8-42A8-8D86-DCD9C669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81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配置与资源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8EEDE8-8993-4D41-B2B7-C642F86E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EA09C2-2C04-4477-A029-968A6B82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44E607-6CAD-4714-A1A0-DC1608D3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25162"/>
            <a:ext cx="4000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E3F55C-053E-4D58-AB48-1E9E5A2B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81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在线预览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4CA879-71D6-4554-AC58-0088AE8B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148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1201A1-30FC-4D12-8896-AD84948E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DE12F1-C74F-4524-B1AB-6C5FB15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25162"/>
            <a:ext cx="4000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F07D5F-08AD-47A5-B537-3C22CE8A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81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精准接入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60A15E-B529-4063-A17F-13B771EA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15A9C0-9EF2-449D-8806-C4F8623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55D6B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41CF60-F610-4062-A2DC-CEB7083D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25162"/>
            <a:ext cx="4000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B35"/>
                </a:solidFill>
              </a:defRPr>
            </a:pPr>
            <a:r>
              <a:rPr sz="1200" b="1">
                <a:solidFill>
                  <a:srgbClr val="101B35"/>
                </a:solidFill>
              </a:rPr>
              <a:t>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DF2858-DF49-434B-ADA2-A9764706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8160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220"/>
                </a:solidFill>
              </a:defRPr>
            </a:pPr>
            <a:r>
              <a:rPr sz="1050" b="1">
                <a:solidFill>
                  <a:srgbClr val="0B1220"/>
                </a:solidFill>
              </a:rPr>
              <a:t>复盘沉淀</a:t>
            </a:r>
          </a:p>
        </p:txBody>
      </p:sp>
    </p:spTree>
    <p:extLst>
      <p:ext uri="{BB962C8B-B14F-4D97-AF65-F5344CB8AC3E}">
        <p14:creationId xmlns:p14="http://schemas.microsoft.com/office/powerpoint/2010/main" val="1317742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C956E-25F3-411E-B130-F022D808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ALL HANDS / ONEFLOW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534D9-192C-43C3-AE66-CB488F4E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FFE60-FC8C-49AC-ACCF-4EC7A8EB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不是替代谁，而是减少重复工作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8A4C4-5EC6-47C8-AC90-35849FFE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F"/>
                </a:solidFill>
              </a:defRPr>
            </a:pPr>
            <a:r>
              <a:rPr sz="1275">
                <a:solidFill>
                  <a:srgbClr val="B9C7DF"/>
                </a:solidFill>
              </a:rPr>
              <a:t>每个角色都继续做判断，只是少一点搬运、对齐和返工。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F42DB-9FC3-4246-B769-58806382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55D6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5356D-B284-487A-8C91-6B8FA8EF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081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B35"/>
                </a:solidFill>
              </a:defRPr>
            </a:pPr>
            <a:r>
              <a:rPr sz="1275" b="1">
                <a:solidFill>
                  <a:srgbClr val="101B35"/>
                </a:solidFill>
              </a:rPr>
              <a:t>策划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AC05C-5E36-44D6-B7B2-C105566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方案更快可讨论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6EDFD-5D76-4B8D-93C2-FC3D70E9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7DF"/>
                </a:solidFill>
              </a:defRPr>
            </a:pPr>
            <a:r>
              <a:rPr sz="1125">
                <a:solidFill>
                  <a:srgbClr val="B9C7DF"/>
                </a:solidFill>
              </a:rPr>
              <a:t>输入目标与限制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CB8CD-DE41-4381-946B-452FA187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24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279A3"/>
                </a:solidFill>
              </a:defRPr>
            </a:pPr>
            <a:r>
              <a:rPr sz="1800" b="1">
                <a:solidFill>
                  <a:srgbClr val="6279A3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54761-A9CF-4E19-9A9B-CBC4AA64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C398B-2F12-41A7-AF80-481084DF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7081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B35"/>
                </a:solidFill>
              </a:defRPr>
            </a:pPr>
            <a:r>
              <a:rPr sz="1275" b="1">
                <a:solidFill>
                  <a:srgbClr val="101B35"/>
                </a:solidFill>
              </a:rPr>
              <a:t>产品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DD7F2-5376-4F59-A244-E6C0D8FF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规则沉淀可复用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0904B-4B13-4F1D-9693-5935222F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00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7DF"/>
                </a:solidFill>
              </a:defRPr>
            </a:pPr>
            <a:r>
              <a:rPr sz="1125">
                <a:solidFill>
                  <a:srgbClr val="B9C7DF"/>
                </a:solidFill>
              </a:rPr>
              <a:t>定义能力与验收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FA707-F101-4C25-ADDB-D630288C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24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279A3"/>
                </a:solidFill>
              </a:defRPr>
            </a:pPr>
            <a:r>
              <a:rPr sz="1800" b="1">
                <a:solidFill>
                  <a:srgbClr val="6279A3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445A8-2344-4808-A753-B584E89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1C204-FE5D-4C76-84B9-10174FD8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7081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B35"/>
                </a:solidFill>
              </a:defRPr>
            </a:pPr>
            <a:r>
              <a:rPr sz="1275" b="1">
                <a:solidFill>
                  <a:srgbClr val="101B35"/>
                </a:solidFill>
              </a:rPr>
              <a:t>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609A4-0758-4C6F-BD93-1F7E5389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资源在真实页面验证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E6447-9235-4AA5-8F7E-3E978BD6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00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7DF"/>
                </a:solidFill>
              </a:defRPr>
            </a:pPr>
            <a:r>
              <a:rPr sz="1125">
                <a:solidFill>
                  <a:srgbClr val="B9C7DF"/>
                </a:solidFill>
              </a:rPr>
              <a:t>制作并校验资源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A3627-95CC-4892-A488-A6BD23B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279A3"/>
                </a:solidFill>
              </a:defRPr>
            </a:pPr>
            <a:r>
              <a:rPr sz="1800" b="1">
                <a:solidFill>
                  <a:srgbClr val="6279A3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13C48-EAF1-4346-8531-21B13985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D5B11-D73A-4A1A-822D-C550B409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70810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B35"/>
                </a:solidFill>
              </a:defRPr>
            </a:pPr>
            <a:r>
              <a:rPr sz="1275" b="1">
                <a:solidFill>
                  <a:srgbClr val="101B35"/>
                </a:solidFill>
              </a:rPr>
              <a:t>开发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77FBA-8706-41CB-BBCB-75CE63E6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直接读取完整上下文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2E521-E5E6-4548-9B83-7D77D3B9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7DF"/>
                </a:solidFill>
              </a:defRPr>
            </a:pPr>
            <a:r>
              <a:rPr sz="1125">
                <a:solidFill>
                  <a:srgbClr val="B9C7DF"/>
                </a:solidFill>
              </a:rPr>
              <a:t>评估与接入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FC98F-2F91-470B-B2D8-23C723CE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A80DB-0637-4638-9342-A6B158B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5D6BE"/>
                </a:solidFill>
              </a:defRPr>
            </a:pPr>
            <a:r>
              <a:rPr sz="1575" b="1">
                <a:solidFill>
                  <a:srgbClr val="55D6BE"/>
                </a:solidFill>
              </a:rPr>
              <a:t>共同变化：人负责判断和标准，AI 负责执行、整合和自助答疑。</a:t>
            </a:r>
          </a:p>
        </p:txBody>
      </p:sp>
    </p:spTree>
    <p:extLst>
      <p:ext uri="{BB962C8B-B14F-4D97-AF65-F5344CB8AC3E}">
        <p14:creationId xmlns:p14="http://schemas.microsoft.com/office/powerpoint/2010/main" val="247864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5C3C73-5DD0-4FFF-99F3-BF56DA55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ALL HANDS / ONEFLOW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3EB65-D9A1-4A86-B81A-62CA9B92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C1723-D03E-406D-BF02-45088D12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一个可交互原型，成为团队共同语言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FB7E9-0716-4555-98D9-92937A51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聊天记录会结束，原型会继续承载目标、规则、资源和开发上下文。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70ED9-8623-4E01-9929-99BF30D7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9800"/>
            <a:ext cx="4953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01B35"/>
          </a:solidFill>
          <a:ln xmlns:a="http://schemas.openxmlformats.org/drawingml/2006/main" w="9525">
            <a:solidFill>
              <a:srgbClr val="101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D8C6F-D256-4205-9DAF-8FAC11B9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95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5D6BE"/>
                </a:solidFill>
              </a:defRPr>
            </a:pPr>
            <a:r>
              <a:rPr sz="900" b="1">
                <a:solidFill>
                  <a:srgbClr val="55D6BE"/>
                </a:solidFill>
              </a:rPr>
              <a:t>ONEFLOW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E0A77-E65D-4D72-9EEA-71497C47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146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活动原型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E7078-6A1A-45C2-9F2D-ADF975C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671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7D5EA"/>
                </a:solidFill>
              </a:defRPr>
            </a:pPr>
            <a:r>
              <a:rPr sz="1200">
                <a:solidFill>
                  <a:srgbClr val="C7D5EA"/>
                </a:solidFill>
              </a:rPr>
              <a:t>页面 · 文案 · 状态 · 配置 · 资源 · 预览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637BB-4DC7-47C4-8D44-11583DC9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14800"/>
            <a:ext cx="4095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434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4F15E-31EA-462D-B699-B2FDA157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6720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一次生成页面与上下文，减少跨文档同步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A30FE-8572-48F3-8345-8BCD3D94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5D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69EE4-BE56-4394-8835-611C694F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B35"/>
                </a:solidFill>
              </a:defRPr>
            </a:pPr>
            <a:r>
              <a:rPr sz="900" b="1">
                <a:solidFill>
                  <a:srgbClr val="101B35"/>
                </a:solidFill>
              </a:rPr>
              <a:t>策划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98632-CF2E-4EDC-866C-EF840E50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765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46590-7DDC-469D-AC6C-0834D9F6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0F705-AAD8-420B-911F-9E83AF5B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624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B35"/>
                </a:solidFill>
              </a:defRPr>
            </a:pPr>
            <a:r>
              <a:rPr sz="900" b="1">
                <a:solidFill>
                  <a:srgbClr val="101B35"/>
                </a:solidFill>
              </a:rPr>
              <a:t>产品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A28F2-6286-41B8-B970-8CF05C08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243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50C1D-9144-4A9C-8177-30A91732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289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5D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88EDA-B7D6-4611-A202-AB5BFC0A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955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B35"/>
                </a:solidFill>
              </a:defRPr>
            </a:pPr>
            <a:r>
              <a:rPr sz="900" b="1">
                <a:solidFill>
                  <a:srgbClr val="101B35"/>
                </a:solidFill>
              </a:rPr>
              <a:t>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0FC1A-7556-452E-8FAC-8AA54C09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41C2-E970-4721-BC5D-740264B8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910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95BEF-5248-453F-A9C5-96814A9F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576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B35"/>
                </a:solidFill>
              </a:defRPr>
            </a:pPr>
            <a:r>
              <a:rPr sz="900" b="1">
                <a:solidFill>
                  <a:srgbClr val="101B35"/>
                </a:solidFill>
              </a:rPr>
              <a:t>运营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FB870-C4ED-4A29-A830-0E021303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195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BB1D7-A7A2-4ECF-8B30-D526C5E1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5D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DE2CE-494E-4B04-A6B0-E8929852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006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B35"/>
                </a:solidFill>
              </a:defRPr>
            </a:pPr>
            <a:r>
              <a:rPr sz="900" b="1">
                <a:solidFill>
                  <a:srgbClr val="101B35"/>
                </a:solidFill>
              </a:rPr>
              <a:t>开发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19FE4-5D1C-4034-A02C-4C0BF385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625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↙</a:t>
            </a:r>
          </a:p>
        </p:txBody>
      </p:sp>
    </p:spTree>
    <p:extLst>
      <p:ext uri="{BB962C8B-B14F-4D97-AF65-F5344CB8AC3E}">
        <p14:creationId xmlns:p14="http://schemas.microsoft.com/office/powerpoint/2010/main" val="882786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3FBAE9-CB19-453A-B7EC-7AE3125B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ALL HANDS / ONEFLOW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C26A7-A8D2-4389-BCCE-E7020801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3D216-203B-40C1-BF83-86F5B8F5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上传资源，就能看到它在真实页面中的效果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DFA80-8E6C-40BE-9484-E9D73322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设计交付不止于素材文件，而是直接验证素材在页面中的可用性。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D7CC5-C2C9-44A7-BA28-A3168C11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5EAE3-7D42-485C-BC3F-B1A4353D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EA38C-D41B-4394-B316-130D281A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1018"/>
            <a:ext cx="361950" cy="162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66652-C8E8-46DA-A1DD-768E0BAC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看配置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2E549-3015-4F9F-B2D9-2D57D155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确认尺寸、格式与状态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7C6BE-D8F5-481A-9F92-1705BC3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0F5A1-ACBF-421C-985F-B53918FC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57450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3E302-0F28-4421-98DC-55CB9D23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66D5A-1934-4214-AD22-E500C83D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1018"/>
            <a:ext cx="361950" cy="162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3374E-2D6E-466C-93C1-E8C0FB37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读规范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850C2-832E-4065-8A45-683EB0F8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52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读取项目内的资源规则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885F2-B1AF-44C1-8D46-11F8548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14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D8344-2CFB-4F75-80FF-A4820511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E76F5-2111-4E94-92E3-7F7E2327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4C58B-B1AB-4121-B66E-79F44FC9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11018"/>
            <a:ext cx="361950" cy="162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BAE0F-6F00-4FD3-97F9-D1419424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传资源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D5A10-91EF-402A-9CBD-392D31DF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52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图片 / 动效 / 音效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78E2B-5306-4900-9162-7EA274E9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0A5E4-38B9-479B-BA37-46CDF30C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B35"/>
          </a:solidFill>
          <a:ln xmlns:a="http://schemas.openxmlformats.org/drawingml/2006/main" w="9525">
            <a:solidFill>
              <a:srgbClr val="101B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90AC08-C905-415D-BAF5-93FF935C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55D6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CBF45A-8852-45B1-9448-627B782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11018"/>
            <a:ext cx="361950" cy="162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B35"/>
                </a:solidFill>
              </a:defRPr>
            </a:pPr>
            <a:r>
              <a:rPr sz="900" b="1">
                <a:solidFill>
                  <a:srgbClr val="101B35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C7B095-0993-4EF1-8797-488D0A03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147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看预览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EB791-758B-4664-AF18-0AFF73C2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52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7D5EA"/>
                </a:solidFill>
              </a:defRPr>
            </a:pPr>
            <a:r>
              <a:rPr sz="1050">
                <a:solidFill>
                  <a:srgbClr val="C7D5EA"/>
                </a:solidFill>
              </a:rPr>
              <a:t>实时看到页面效果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3B0A24-7ABA-416A-8AA6-3F437F1D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14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CB6525-EFDE-4DB5-B85F-095A9F22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57450"/>
            <a:ext cx="1885950" cy="209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C7BBB4-814D-4B32-AAA1-BA90F614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3C6E68-15D2-4D5E-A2B2-3D640063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11018"/>
            <a:ext cx="361950" cy="162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8D72B2-319A-43AE-9715-3494C675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147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再验收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E363C1-3C3F-4CD5-98C1-DE03000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52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调整并确认可用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FF07EE-34F0-4B68-B827-4FC152AB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19700"/>
            <a:ext cx="419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5D6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DAABB6-E2BA-4585-B685-10252851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B35"/>
                </a:solidFill>
              </a:defRPr>
            </a:pPr>
            <a:r>
              <a:rPr sz="900" b="1">
                <a:solidFill>
                  <a:srgbClr val="101B35"/>
                </a:solidFill>
              </a:rPr>
              <a:t>资源 + 页面 + 规范 = 一次验证</a:t>
            </a:r>
          </a:p>
        </p:txBody>
      </p:sp>
    </p:spTree>
    <p:extLst>
      <p:ext uri="{BB962C8B-B14F-4D97-AF65-F5344CB8AC3E}">
        <p14:creationId xmlns:p14="http://schemas.microsoft.com/office/powerpoint/2010/main" val="1708639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960F7-10F0-4385-9BDA-04259935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ALL HANDS / ONEFLOW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D496E-F17E-41EE-B4EA-01FEF44D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322CA-F6DE-4025-833A-8D79A1B1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不只回答问题，还参与完成活动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BD51F-F384-4231-9500-025FF44C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7DF"/>
                </a:solidFill>
              </a:defRPr>
            </a:pPr>
            <a:r>
              <a:rPr sz="1275">
                <a:solidFill>
                  <a:srgbClr val="B9C7DF"/>
                </a:solidFill>
              </a:rPr>
              <a:t>它有依据地执行、整合和答疑，人负责最终判断。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F82C3-9135-4A4C-A131-4E760D63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8763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8284A"/>
          </a:solidFill>
          <a:ln xmlns:a="http://schemas.openxmlformats.org/drawingml/2006/main" w="9525">
            <a:solidFill>
              <a:srgbClr val="2C41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4FAAA-2501-455D-9E98-89393197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38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61F24-FC8F-4982-8B0B-42FB0F64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4412"/>
            <a:ext cx="4000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B35"/>
                </a:solidFill>
              </a:defRPr>
            </a:pPr>
            <a:r>
              <a:rPr sz="975" b="1">
                <a:solidFill>
                  <a:srgbClr val="101B3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4AFA9-7B6D-4CB8-A66C-BB841EB6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479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4BBCE-084D-4919-B966-13CC6A55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582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7D5EA"/>
                </a:solidFill>
              </a:defRPr>
            </a:pPr>
            <a:r>
              <a:rPr sz="1200">
                <a:solidFill>
                  <a:srgbClr val="C7D5EA"/>
                </a:solidFill>
              </a:rPr>
              <a:t>生成方案、原型、配置清单和资源清单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FF6AD-3351-451C-9BA9-0B03B05F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8763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8284A"/>
          </a:solidFill>
          <a:ln xmlns:a="http://schemas.openxmlformats.org/drawingml/2006/main" w="9525">
            <a:solidFill>
              <a:srgbClr val="2C4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8C64B-C5C6-4D80-BD1B-3497F664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55D6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11011-4D7E-4E87-AF1E-7E2C575A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1212"/>
            <a:ext cx="4000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B35"/>
                </a:solidFill>
              </a:defRPr>
            </a:pPr>
            <a:r>
              <a:rPr sz="975" b="1">
                <a:solidFill>
                  <a:srgbClr val="101B35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DD49E-1D75-4592-91F7-72A2FAB8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14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整合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F442E-5EAA-40E8-AD75-82386FB8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582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7D5EA"/>
                </a:solidFill>
              </a:defRPr>
            </a:pPr>
            <a:r>
              <a:rPr sz="1200">
                <a:solidFill>
                  <a:srgbClr val="C7D5EA"/>
                </a:solidFill>
              </a:rPr>
              <a:t>结合产品能力、视觉规范、历史经验和开发边界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E6AAD-09F2-41B6-8A6A-8EF574FF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8763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8284A"/>
          </a:solidFill>
          <a:ln xmlns:a="http://schemas.openxmlformats.org/drawingml/2006/main" w="9525">
            <a:solidFill>
              <a:srgbClr val="2C41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8BB63-9272-4076-BF00-90506687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147DE-ACF7-48E8-AFB4-83A9F277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8012"/>
            <a:ext cx="4000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B35"/>
                </a:solidFill>
              </a:defRPr>
            </a:pPr>
            <a:r>
              <a:rPr sz="975" b="1">
                <a:solidFill>
                  <a:srgbClr val="101B3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1FB6C-A34B-476B-806E-1949B46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815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自助答疑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3C108-7D85-49D3-9A42-5CAF2C8F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10100"/>
            <a:ext cx="582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7D5EA"/>
                </a:solidFill>
              </a:defRPr>
            </a:pPr>
            <a:r>
              <a:rPr sz="1200">
                <a:solidFill>
                  <a:srgbClr val="C7D5EA"/>
                </a:solidFill>
              </a:rPr>
              <a:t>回答能不能做、怎么配置、资源怎么准备、如何接入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89EA9-F4A7-446F-BBD0-15CDBEB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6BE"/>
                </a:solidFill>
              </a:defRPr>
            </a:pPr>
            <a:r>
              <a:rPr sz="1350" b="1">
                <a:solidFill>
                  <a:srgbClr val="55D6BE"/>
                </a:solidFill>
              </a:rPr>
              <a:t>人：判断 / 标准 / 例外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404AE-332E-438A-BF48-AE7E74D7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10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4C95D"/>
                </a:solidFill>
              </a:defRPr>
            </a:pPr>
            <a:r>
              <a:rPr sz="1350" b="1">
                <a:solidFill>
                  <a:srgbClr val="F4C95D"/>
                </a:solidFill>
              </a:rPr>
              <a:t>AI：执行 / 整合 / 自助答疑</a:t>
            </a:r>
          </a:p>
        </p:txBody>
      </p:sp>
    </p:spTree>
    <p:extLst>
      <p:ext uri="{BB962C8B-B14F-4D97-AF65-F5344CB8AC3E}">
        <p14:creationId xmlns:p14="http://schemas.microsoft.com/office/powerpoint/2010/main" val="1516744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4C6EC2-5FC8-4504-AB02-1EBFBB0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ALL HANDS / ONEFLOW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81128-9346-48A9-A62F-07167015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48299-BC9D-4A53-AF0B-7F216C0F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从活动目标，到上线复盘，一条链路完成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EA3F4-CBF4-4B0F-9D5C-B5A9BE20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一次活动不仅完成交付，还会为下一次活动留下可复用资产。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3644C-D8C7-4EE2-B486-AFA0C894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74683-25D3-478D-AD00-220578CF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模板与知识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15D14-E8E0-468D-A03C-950BE638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43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11C34-3FF0-40E9-A633-BA446ACA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B76E8-57BB-45EE-B2B9-5401DECB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活动目标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06243-444E-4159-B1AE-0EF72FA6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43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F69ED-AAE6-4466-99C0-6F6D97CD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3B27C-33AA-4337-B33E-CFAF253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AI 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AD01A-CC1E-41E9-B83E-4362A93B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43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A0CC6-C224-4321-B1EB-C6F3C2BA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855AB-1066-4EAB-998C-B01D0C8F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交互原型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75F2B-871A-45D8-B79B-7A4B25C5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43C12-557C-4819-8363-FB34C2D5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37C27-673F-4F0A-BE8A-BE39DE6F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配置与资源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97A51-A897-4BBA-8E1F-29334EDB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289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CA211-77DA-4CD7-B35D-CD23D684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E87C6-6A4D-4595-81EC-F1D3043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在线预览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3DE9E-DDA1-4751-9F82-70F3D09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90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ABC30-18F1-4646-B637-1E97560E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2905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7CEE2-69D3-4AD0-8A47-9589D25A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195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开发接入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33F20-B665-43CC-A8E4-3132384E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90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CC078-1549-4502-BE08-BBA13279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537FE-3828-4EF1-9F16-AF90B077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195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验收上线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B8726-DA31-4286-A4F5-044D49B7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90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19D1ED-1B2D-4FEC-B6D8-FDA403CD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55D6BE"/>
          </a:solidFill>
          <a:ln xmlns:a="http://schemas.openxmlformats.org/drawingml/2006/main" w="9525">
            <a:solidFill>
              <a:srgbClr val="55D6B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60E955-34B8-4BD1-8F19-6CAFA39C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95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B35"/>
                </a:solidFill>
              </a:defRPr>
            </a:pPr>
            <a:r>
              <a:rPr sz="1200" b="1">
                <a:solidFill>
                  <a:srgbClr val="101B35"/>
                </a:solidFill>
              </a:rPr>
              <a:t>经验回流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5D48B7-3A5E-41F5-80AE-FE5059DE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29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下一次活动，从“模板与知识”继续开始。</a:t>
            </a:r>
          </a:p>
        </p:txBody>
      </p:sp>
    </p:spTree>
    <p:extLst>
      <p:ext uri="{BB962C8B-B14F-4D97-AF65-F5344CB8AC3E}">
        <p14:creationId xmlns:p14="http://schemas.microsoft.com/office/powerpoint/2010/main" val="13539972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C7A033-8CF7-4CB1-B50C-61A20920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ALL HANDS / ONEFLOW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BB3C5-88A2-4E91-97E2-293C814E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6DE54-0493-4458-9D76-C6E28C53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先用一个真实活动，验证完整闭环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37363-2ADB-4B56-BCCC-9C419167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本次全员宣讲只讲清边界；逐项操作教程放到后续培训。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97CDC-075F-4221-B152-4C6522BF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7625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01B35"/>
          </a:solidFill>
          <a:ln xmlns:a="http://schemas.openxmlformats.org/drawingml/2006/main" w="9525">
            <a:solidFill>
              <a:srgbClr val="101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3769B-4A12-438D-BB4D-3212B752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当前可用能力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D4DB8-FF6E-4DA3-AA68-07339521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55D6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BE6D9-392F-4567-A2E9-5A9CE0AC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7D5EA"/>
                </a:solidFill>
              </a:defRPr>
            </a:pPr>
            <a:r>
              <a:rPr sz="1200">
                <a:solidFill>
                  <a:srgbClr val="C7D5EA"/>
                </a:solidFill>
              </a:rPr>
              <a:t>活动模板与项目规范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31022-FA65-41E5-85E8-71F6B76B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55D6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61CC5-6672-464E-B3E9-C58908FA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43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7D5EA"/>
                </a:solidFill>
              </a:defRPr>
            </a:pPr>
            <a:r>
              <a:rPr sz="1200">
                <a:solidFill>
                  <a:srgbClr val="C7D5EA"/>
                </a:solidFill>
              </a:rPr>
              <a:t>AI 原型与配置清单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0282A-4F84-4262-A911-5D0D9CF4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55D6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E6C1D-CA62-4AC1-8057-22D2B865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7D5EA"/>
                </a:solidFill>
              </a:defRPr>
            </a:pPr>
            <a:r>
              <a:rPr sz="1200">
                <a:solidFill>
                  <a:srgbClr val="C7D5EA"/>
                </a:solidFill>
              </a:rPr>
              <a:t>资源上传与实时预览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51AA1-CFFA-48CB-80AC-6DE229F8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55D6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543C8-D84A-4647-B914-A7BAD0A3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7D5EA"/>
                </a:solidFill>
              </a:defRPr>
            </a:pPr>
            <a:r>
              <a:rPr sz="1200">
                <a:solidFill>
                  <a:srgbClr val="C7D5EA"/>
                </a:solidFill>
              </a:rPr>
              <a:t>在线协作与开发接入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834E6-CFC3-480C-8C41-A32BDC7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47625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734B2-0193-4AD4-AA63-59703363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试点选择标准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66F97-70FC-4E4C-B8B7-0CF3E1A5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63EB6-78AC-454C-9D9A-5D81DFCD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17926"/>
            <a:ext cx="152400" cy="68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F4463-19B4-4F48-A1B6-751C42B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220"/>
                </a:solidFill>
              </a:defRPr>
            </a:pPr>
            <a:r>
              <a:rPr sz="1200">
                <a:solidFill>
                  <a:srgbClr val="0B1220"/>
                </a:solidFill>
              </a:rPr>
              <a:t>真实业务，范围可控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CA5E0-6540-46AA-B341-5C90C9A0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50AD4-828A-4AA0-A2C9-89AF57B2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75126"/>
            <a:ext cx="152400" cy="68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09E22-9659-4AF0-A683-40AFF334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004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220"/>
                </a:solidFill>
              </a:defRPr>
            </a:pPr>
            <a:r>
              <a:rPr sz="1200">
                <a:solidFill>
                  <a:srgbClr val="0B1220"/>
                </a:solidFill>
              </a:rPr>
              <a:t>多角色参与，有明确上线时间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1CFA9-B420-456F-A9BF-9D4101A3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113DD-7085-4498-8DEB-BBEBAB3B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2326"/>
            <a:ext cx="152400" cy="68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70A246-ED93-4F41-8C48-CFEF5B79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576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220"/>
                </a:solidFill>
              </a:defRPr>
            </a:pPr>
            <a:r>
              <a:rPr sz="1200">
                <a:solidFill>
                  <a:srgbClr val="0B1220"/>
                </a:solidFill>
              </a:rPr>
              <a:t>有复用价值，能沉淀经验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6D886-3A23-4825-A41D-BFF7C3A8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43550"/>
            <a:ext cx="6667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194525-86BB-428B-A5EF-FBBA4705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10225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B35"/>
                </a:solidFill>
              </a:defRPr>
            </a:pPr>
            <a:r>
              <a:rPr sz="900" b="1">
                <a:solidFill>
                  <a:srgbClr val="101B35"/>
                </a:solidFill>
              </a:rPr>
              <a:t>验收：原型可用 · 沟通减少 · 能完成上线</a:t>
            </a:r>
          </a:p>
        </p:txBody>
      </p:sp>
    </p:spTree>
    <p:extLst>
      <p:ext uri="{BB962C8B-B14F-4D97-AF65-F5344CB8AC3E}">
        <p14:creationId xmlns:p14="http://schemas.microsoft.com/office/powerpoint/2010/main" val="21206399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43036-6A17-43CF-B11A-6C7C632E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ONEFLOW /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4E0BF-58FD-43F8-A41D-8E0AA7E0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AC4EE-F7FF-42E2-BF42-85DF876E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选择一个真实活动，跑完第一条 OneFlow 工作流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4EFF1-1B24-437B-BC8F-B8A7B324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7D5EA"/>
                </a:solidFill>
              </a:defRPr>
            </a:pPr>
            <a:r>
              <a:rPr sz="1575">
                <a:solidFill>
                  <a:srgbClr val="C7D5EA"/>
                </a:solidFill>
              </a:rPr>
              <a:t>先跑通一个闭环，再把有效方法扩展到更多活动。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EA2A6-9F19-417D-9FD2-01CBEDC1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55D6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DDD76-DFBE-4F48-8ED5-FCE6A3C7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B35"/>
                </a:solidFill>
              </a:defRPr>
            </a:pPr>
            <a:r>
              <a:rPr sz="1125" b="1">
                <a:solidFill>
                  <a:srgbClr val="101B3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9101F-61F7-4C77-9A9B-823BFCB9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确定试点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958C6-9D90-4569-A93E-779BE1D9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7DF"/>
                </a:solidFill>
              </a:defRPr>
            </a:pPr>
            <a:r>
              <a:rPr sz="1125">
                <a:solidFill>
                  <a:srgbClr val="B9C7DF"/>
                </a:solidFill>
              </a:rPr>
              <a:t>活动 + 负责人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A7D3E-4E13-4977-97E3-96950070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814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881AE"/>
                </a:solidFill>
              </a:defRPr>
            </a:pPr>
            <a:r>
              <a:rPr sz="1650" b="1">
                <a:solidFill>
                  <a:srgbClr val="6881AE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65CB2-BF51-4AEB-9226-B52C493C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57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55D6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515EA-0F37-419E-B6FE-90F79C32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71900"/>
            <a:ext cx="4762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B35"/>
                </a:solidFill>
              </a:defRPr>
            </a:pPr>
            <a:r>
              <a:rPr sz="1125" b="1">
                <a:solidFill>
                  <a:srgbClr val="101B3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44C94-78CE-4EC5-9942-8B7C349A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00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补齐上下文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4CEE3-32F8-4436-B873-7890A4B8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815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7DF"/>
                </a:solidFill>
              </a:defRPr>
            </a:pPr>
            <a:r>
              <a:rPr sz="1125">
                <a:solidFill>
                  <a:srgbClr val="B9C7DF"/>
                </a:solidFill>
              </a:rPr>
              <a:t>策划 / 产品 / 设计 / 开发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7DBD1-A120-4838-B97A-F495428B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814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881AE"/>
                </a:solidFill>
              </a:defRPr>
            </a:pPr>
            <a:r>
              <a:rPr sz="1650" b="1">
                <a:solidFill>
                  <a:srgbClr val="6881AE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3402D-3371-4A9A-BC5D-FD0B0044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55D6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10ABD-7626-49B7-8268-E9123050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71900"/>
            <a:ext cx="4762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B35"/>
                </a:solidFill>
              </a:defRPr>
            </a:pPr>
            <a:r>
              <a:rPr sz="1125" b="1">
                <a:solidFill>
                  <a:srgbClr val="101B3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CA9FC-0DE7-4F0B-A9B4-EF7873F6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完成闭环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18755-A13F-4D84-962D-268C6AC2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815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7DF"/>
                </a:solidFill>
              </a:defRPr>
            </a:pPr>
            <a:r>
              <a:rPr sz="1125">
                <a:solidFill>
                  <a:srgbClr val="B9C7DF"/>
                </a:solidFill>
              </a:rPr>
              <a:t>原型 · 预览 · 评审 · 复盘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A87ED-D642-49D1-98EB-0013DE64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814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881AE"/>
                </a:solidFill>
              </a:defRPr>
            </a:pPr>
            <a:r>
              <a:rPr sz="1650" b="1">
                <a:solidFill>
                  <a:srgbClr val="6881AE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7BA75-33A1-4E19-8945-85026BAF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solidFill>
              <a:srgbClr val="F4C9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73284-55AE-41A8-840C-EF9E0530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71900"/>
            <a:ext cx="47625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B35"/>
                </a:solidFill>
              </a:defRPr>
            </a:pPr>
            <a:r>
              <a:rPr sz="1125" b="1">
                <a:solidFill>
                  <a:srgbClr val="101B35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C4C14-C312-4042-8E9A-D8AB1B42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00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沉淀复用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0D0C34-F387-4E65-BEFB-231E56EC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815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7DF"/>
                </a:solidFill>
              </a:defRPr>
            </a:pPr>
            <a:r>
              <a:rPr sz="1125">
                <a:solidFill>
                  <a:srgbClr val="B9C7DF"/>
                </a:solidFill>
              </a:rPr>
              <a:t>模板 · 规范 · 经验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523B47-06C0-4A32-955D-A535030A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66A6E-72EC-490C-A610-4DF7FB7B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5D6BE"/>
                </a:solidFill>
              </a:defRPr>
            </a:pPr>
            <a:r>
              <a:rPr sz="1500" b="1">
                <a:solidFill>
                  <a:srgbClr val="55D6BE"/>
                </a:solidFill>
              </a:rPr>
              <a:t>今天就开始：把下一场活动放进 OneFlow。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D4C43A-9A37-416E-81B0-9B031296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7695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9EB0CE"/>
                </a:solidFill>
              </a:defRPr>
            </a:pPr>
            <a:r>
              <a:rPr sz="1050">
                <a:solidFill>
                  <a:srgbClr val="9EB0CE"/>
                </a:solidFill>
              </a:rPr>
              <a:t>入口 / 联系人 / 时间：待补充</a:t>
            </a:r>
          </a:p>
        </p:txBody>
      </p:sp>
    </p:spTree>
    <p:extLst>
      <p:ext uri="{BB962C8B-B14F-4D97-AF65-F5344CB8AC3E}">
        <p14:creationId xmlns:p14="http://schemas.microsoft.com/office/powerpoint/2010/main" val="536571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2026-08-28T02:41:37.7500000Z</dcterms:created>
  <dcterms:modified xsi:type="dcterms:W3CDTF">2026-08-28T02:41:37.7500000Z</dcterms:modified>
</coreProperties>
</file>